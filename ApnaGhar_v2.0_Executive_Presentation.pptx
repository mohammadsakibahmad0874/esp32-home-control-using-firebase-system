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★ PRODUCTION-READY IoT SMART HOME ARCHITECTURE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ApnaGhar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8346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E5FF"/>
                </a:solidFill>
              </a:defRPr>
            </a:pPr>
            <a:r>
              <a:t>ESP32 Heavy-Duty Home Automation with Firebase Realtime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DFE4EA"/>
                </a:solidFill>
              </a:defRPr>
            </a:pPr>
            <a:r>
              <a:t>In Simple Words: Control high-power home appliances (lights, fans, ACs) in 0.1 seconds from anywhere on Earth, with 100% safety and zero blackout amnesia.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846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8BFA"/>
                </a:solidFill>
              </a:defRPr>
            </a:pPr>
            <a:r>
              <a:t>Lead Architect: Mohammad Sakib Ahmad  |  Status: Verified Production v2.0 Release  | 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REAL-WORLD CONTEXT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Everyday Problem: Why Smart Homes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Traditional wall switches are blind, and cheap IoT modules burn or crash.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3B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Traditional Switches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3B2D6E"/>
                </a:solidFill>
              </a:defRPr>
            </a:pPr>
            <a:r>
              <a:t>🔥 Spark Hazard &amp; No Remote Check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No way to check if geyser or iron was left ON after leaving home.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Mechanical arcing damages expensive motors over time.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Zero energy awareness — high electric bills with no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Cheap Smart Plugs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❌ Hangs When Wi-Fi Drops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Cheap plugs freeze when internet drops, leaving you locked out.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No wall switch feedback — family members get confused.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Blackout amnesia — resets all switches randomly during power cuts.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Our Solution: ApnaGhar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00E5FF"/>
                </a:solidFill>
              </a:defRPr>
            </a:pPr>
            <a:r>
              <a:t>🛡️ Triple-Layer Self-Healing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Sub-100ms real-time control via Google Firebase Realtime Database.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Surge-protected relay armor that handles heavy inductive AC loads.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Family-friendly: Physical wall switches and phone app stay 100% in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FAIL-SAFE DESIGN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Triple-Mode Architecture: Always Reachable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Even if your home Wi-Fi cable is snapped, your switches still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MODE 1: Global Cloud</a:t>
            </a:r>
          </a:p>
          <a:p>
            <a:pPr>
              <a:spcBef>
                <a:spcPts val="400"/>
              </a:spcBef>
              <a:defRPr sz="1400" b="1">
                <a:solidFill>
                  <a:srgbClr val="00E5FF"/>
                </a:solidFill>
              </a:defRPr>
            </a:pPr>
            <a:r>
              <a:t>Google Firebase WebSocket</a:t>
            </a:r>
          </a:p>
          <a:p>
            <a:pPr>
              <a:spcBef>
                <a:spcPts val="800"/>
              </a:spcBef>
              <a:defRPr sz="1300">
                <a:solidFill>
                  <a:srgbClr val="10B981"/>
                </a:solidFill>
              </a:defRPr>
            </a:pPr>
            <a:r>
              <a:t>[ Status: Works Everywhere ]</a:t>
            </a:r>
          </a:p>
          <a:p>
            <a:pPr>
              <a:spcBef>
                <a:spcPts val="1200"/>
              </a:spcBef>
              <a:defRPr sz="1500">
                <a:solidFill>
                  <a:srgbClr val="DFE4EA"/>
                </a:solidFill>
              </a:defRPr>
            </a:pPr>
            <a:r>
              <a:t>Control lights, fans, and ACs from office, metro, or vacation in &lt;0.1s latency.</a:t>
            </a:r>
          </a:p>
          <a:p>
            <a:pPr>
              <a:spcBef>
                <a:spcPts val="1400"/>
              </a:spcBef>
              <a:defRPr sz="1400" i="1">
                <a:solidFill>
                  <a:srgbClr val="F59E0B"/>
                </a:solidFill>
              </a:defRPr>
            </a:pPr>
            <a:r>
              <a:t>💡 Layman: Like a live telephone line between your phone and your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MODE 2: Local Wi-Fi (mDNS)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</a:defRPr>
            </a:pPr>
            <a:r>
              <a:t>Local Network Direct Sync</a:t>
            </a:r>
          </a:p>
          <a:p>
            <a:pPr>
              <a:spcBef>
                <a:spcPts val="800"/>
              </a:spcBef>
              <a:defRPr sz="1300">
                <a:solidFill>
                  <a:srgbClr val="10B981"/>
                </a:solidFill>
              </a:defRPr>
            </a:pPr>
            <a:r>
              <a:t>[ Status: Works Offline (No Internet) ]</a:t>
            </a:r>
          </a:p>
          <a:p>
            <a:pPr>
              <a:spcBef>
                <a:spcPts val="1200"/>
              </a:spcBef>
              <a:defRPr sz="1500">
                <a:solidFill>
                  <a:srgbClr val="DFE4EA"/>
                </a:solidFill>
              </a:defRPr>
            </a:pPr>
            <a:r>
              <a:t>If broadband internet goes down, your phone still toggles appliances over home router.</a:t>
            </a:r>
          </a:p>
          <a:p>
            <a:pPr>
              <a:spcBef>
                <a:spcPts val="1400"/>
              </a:spcBef>
              <a:defRPr sz="1400" i="1">
                <a:solidFill>
                  <a:srgbClr val="F59E0B"/>
                </a:solidFill>
              </a:defRPr>
            </a:pPr>
            <a:r>
              <a:t>💡 Layman: Phone talks straight to the ESP32 in your living room without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MODE 3: Emergency AP</a:t>
            </a:r>
          </a:p>
          <a:p>
            <a:pPr>
              <a:spcBef>
                <a:spcPts val="400"/>
              </a:spcBef>
              <a:defRPr sz="1400" b="1">
                <a:solidFill>
                  <a:srgbClr val="A78BFA"/>
                </a:solidFill>
              </a:defRPr>
            </a:pPr>
            <a:r>
              <a:t>Direct Hardware Hotspot</a:t>
            </a:r>
          </a:p>
          <a:p>
            <a:pPr>
              <a:spcBef>
                <a:spcPts val="800"/>
              </a:spcBef>
              <a:defRPr sz="1300">
                <a:solidFill>
                  <a:srgbClr val="10B981"/>
                </a:solidFill>
              </a:defRPr>
            </a:pPr>
            <a:r>
              <a:t>[ Status: Router Dead Fallback ]</a:t>
            </a:r>
          </a:p>
          <a:p>
            <a:pPr>
              <a:spcBef>
                <a:spcPts val="1200"/>
              </a:spcBef>
              <a:defRPr sz="1500">
                <a:solidFill>
                  <a:srgbClr val="DFE4EA"/>
                </a:solidFill>
              </a:defRPr>
            </a:pPr>
            <a:r>
              <a:t>ESP32 broadcasts its own Wi-Fi hotspot ('SmartHome_Control') with captive portal.</a:t>
            </a:r>
          </a:p>
          <a:p>
            <a:pPr>
              <a:spcBef>
                <a:spcPts val="1400"/>
              </a:spcBef>
              <a:defRPr sz="1400" i="1">
                <a:solidFill>
                  <a:srgbClr val="F59E0B"/>
                </a:solidFill>
              </a:defRPr>
            </a:pPr>
            <a:r>
              <a:t>💡 Layman: Connect your phone directly to the switch box to turn on lights.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ENGINEERING PIPELINE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How a tap on your phone turns on a heavy AC in 0.1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411480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1. User Inputs</a:t>
            </a:r>
          </a:p>
          <a:p>
            <a:pPr>
              <a:spcBef>
                <a:spcPts val="1000"/>
              </a:spcBef>
              <a:defRPr sz="1500">
                <a:solidFill>
                  <a:srgbClr val="00E5FF"/>
                </a:solidFill>
              </a:defRPr>
            </a:pPr>
            <a:r>
              <a:t>Flutter App</a:t>
            </a:r>
            <a:br/>
            <a:r>
              <a:t>Web Dashboard</a:t>
            </a:r>
            <a:br/>
            <a:r>
              <a:t>Alexa / Google Voice</a:t>
            </a:r>
          </a:p>
          <a:p>
            <a:pPr>
              <a:spcBef>
                <a:spcPts val="1400"/>
              </a:spcBef>
              <a:defRPr sz="1400">
                <a:solidFill>
                  <a:srgbClr val="DFE4EA"/>
                </a:solidFill>
              </a:defRPr>
            </a:pPr>
            <a:r>
              <a:t>Role: User triggers toggle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14600" cy="411480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2. Cloud Engine</a:t>
            </a:r>
          </a:p>
          <a:p>
            <a:pPr>
              <a:spcBef>
                <a:spcPts val="1000"/>
              </a:spcBef>
              <a:defRPr sz="1500">
                <a:solidFill>
                  <a:srgbClr val="A78BFA"/>
                </a:solidFill>
              </a:defRPr>
            </a:pPr>
            <a:r>
              <a:t>Google Firebase RTDB</a:t>
            </a:r>
            <a:br/>
            <a:r>
              <a:t>WebSocket Stream</a:t>
            </a:r>
            <a:br/>
            <a:r>
              <a:t>FCM Push Alerts</a:t>
            </a:r>
          </a:p>
          <a:p>
            <a:pPr>
              <a:spcBef>
                <a:spcPts val="1400"/>
              </a:spcBef>
              <a:defRPr sz="1400">
                <a:solidFill>
                  <a:srgbClr val="DFE4EA"/>
                </a:solidFill>
              </a:defRPr>
            </a:pPr>
            <a:r>
              <a:t>Role: Instant state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14600" cy="411480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3. Microcontroller</a:t>
            </a:r>
          </a:p>
          <a:p>
            <a:pPr>
              <a:spcBef>
                <a:spcPts val="1000"/>
              </a:spcBef>
              <a:defRPr sz="1500">
                <a:solidFill>
                  <a:srgbClr val="F59E0B"/>
                </a:solidFill>
              </a:defRPr>
            </a:pPr>
            <a:r>
              <a:t>ESP32 DevKit V1</a:t>
            </a:r>
            <a:br/>
            <a:r>
              <a:t>Hardware WDT (15s)</a:t>
            </a:r>
            <a:br/>
            <a:r>
              <a:t>NVS Power Memory</a:t>
            </a:r>
          </a:p>
          <a:p>
            <a:pPr>
              <a:spcBef>
                <a:spcPts val="1400"/>
              </a:spcBef>
              <a:defRPr sz="1400">
                <a:solidFill>
                  <a:srgbClr val="DFE4EA"/>
                </a:solidFill>
              </a:defRPr>
            </a:pPr>
            <a:r>
              <a:t>Role: Dual-core processor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14600" cy="411480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4. Power &amp; Safety</a:t>
            </a:r>
          </a:p>
          <a:p>
            <a:pPr>
              <a:spcBef>
                <a:spcPts val="1000"/>
              </a:spcBef>
              <a:defRPr sz="1500">
                <a:solidFill>
                  <a:srgbClr val="10B981"/>
                </a:solidFill>
              </a:defRPr>
            </a:pPr>
            <a:r>
              <a:t>4x Heavy Duty Relays</a:t>
            </a:r>
            <a:br/>
            <a:r>
              <a:t>RC Snubber + MOV</a:t>
            </a:r>
            <a:br/>
            <a:r>
              <a:t>PZEM Energy Sensor</a:t>
            </a:r>
          </a:p>
          <a:p>
            <a:pPr>
              <a:spcBef>
                <a:spcPts val="1400"/>
              </a:spcBef>
              <a:defRPr sz="1400">
                <a:solidFill>
                  <a:srgbClr val="DFE4EA"/>
                </a:solidFill>
              </a:defRPr>
            </a:pPr>
            <a:r>
              <a:t>Role: Switches 230V AC 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CIRCUIT WIRING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ESP32 Hardware Pin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Safe pin assignment avoiding boot-loop and strapping conflicts.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21792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Hardware Pin Mapping Table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23: Relay 1 (Living Room Light) [Active-LOW Optocoupler]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22: Relay 2 (Bedroom Light) [Active-LOW Optocoupler]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21: Relay 3 (Kitchen Fan) [Active-LOW Optocoupler]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19: Relay 4 (Air Conditioner / Heater) [Active-LOW Optocoupler]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16 / 17: PZEM-004T Energy Meter [UART2 Serial (RX/TX)]</a:t>
            </a:r>
          </a:p>
          <a:p>
            <a:pPr>
              <a:spcBef>
                <a:spcPts val="600"/>
              </a:spcBef>
              <a:defRPr sz="1500">
                <a:solidFill>
                  <a:srgbClr val="DFE4EA"/>
                </a:solidFill>
              </a:defRPr>
            </a:pPr>
            <a:r>
              <a:t>• GPIO 32, 33, 25, 26: Manual Wall Switches [Internal Pull-Up Interrupts]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920240"/>
            <a:ext cx="42062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💡 Plain English Explanation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Optocoupler Isolation: High voltage 230V electricity is separated by a beam of light from the 3.3V chip. Zero risk of electric shock.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No Boot Glitches: Boot strapping pins (GPIO 0, 2, 12, 15) were deliberately avoided so the ESP32 never gets stuck during power-up.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Manual Sync: If an elderly family member presses the wall switch, the ESP32 senses it immediately and updates the phone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CLOUD ENGINE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Google Firebase Realtime Sync (&lt;100ms)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Why WebSocket event streaming crushes traditional HTTP polling.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EF4444"/>
                </a:solidFill>
              </a:defRPr>
            </a:pPr>
            <a:r>
              <a:t>❌ Old 2-Second Polling</a:t>
            </a:r>
          </a:p>
          <a:p>
            <a:pPr>
              <a:spcBef>
                <a:spcPts val="1000"/>
              </a:spcBef>
              <a:defRPr sz="1500">
                <a:solidFill>
                  <a:srgbClr val="DFE4EA"/>
                </a:solidFill>
              </a:defRPr>
            </a:pPr>
            <a:r>
              <a:t>• Device asked the server 'Anything new?' every 2 seconds in an endless loop.</a:t>
            </a:r>
          </a:p>
          <a:p>
            <a:pPr>
              <a:spcBef>
                <a:spcPts val="1000"/>
              </a:spcBef>
              <a:defRPr sz="1500">
                <a:solidFill>
                  <a:srgbClr val="DFE4EA"/>
                </a:solidFill>
              </a:defRPr>
            </a:pPr>
            <a:r>
              <a:t>• Wasted massive network bandwidth and overheated the Wi-Fi chip.</a:t>
            </a:r>
          </a:p>
          <a:p>
            <a:pPr>
              <a:spcBef>
                <a:spcPts val="1000"/>
              </a:spcBef>
              <a:defRPr sz="1500">
                <a:solidFill>
                  <a:srgbClr val="DFE4EA"/>
                </a:solidFill>
              </a:defRPr>
            </a:pPr>
            <a:r>
              <a:t>• Up to 2.5 second delay before a light would turn on.</a:t>
            </a:r>
          </a:p>
          <a:p>
            <a:pPr>
              <a:spcBef>
                <a:spcPts val="1000"/>
              </a:spcBef>
              <a:defRPr sz="1500">
                <a:solidFill>
                  <a:srgbClr val="DFE4EA"/>
                </a:solidFill>
              </a:defRPr>
            </a:pPr>
            <a:r>
              <a:t>• Exceeded free database quota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B981"/>
                </a:solidFill>
              </a:defRPr>
            </a:pPr>
            <a:r>
              <a:t>✅ ApnaGhar v2.0 Event Streaming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Always-Open WebSocket Pipeline: Server pushes state only when a button is pressed.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Lightning Fast: Response in under 100 milliseconds.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95% Less Bandwidth: Zero unnecessary traffic when idle.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Auto Token Refresh: Keeps connection alive 24/7 with zero logouts.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DELIVERY STATUS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13 Core Features: All 100%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Production-grade implementation spanning firmware, cloud, mobile, and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Firmware &amp; Core Cloud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1. Firebase Event Stream — Sub-100ms push replacing 2s poll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2. Firebase Security Rules — User-isolated database permissions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3. Token Auto-Refresh — 24/7 unattended cloud connection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4. PZEM-004T Power Sensing — Real voltage, current &amp; kWh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5. ElegantOTA Updates — Browser-based wireless upgrade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6. Hardware Watchdog (15s) — Auto-reboot on chip hang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7. NVS State Memory — Restores switch state after outage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Hardware, Voice &amp; Applications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8. Manual Switch Feedback — Physical switch updates phone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9. RC Snubber + MOV — Appliance spark &amp; surge shield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10. 2-Layer PCB Design — Creepage isolation layout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11. 3D Printable Enclosure — UL94 V-0 flame-retardant box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12. Voice Skills — Alexa Skill &amp; Google Action</a:t>
            </a:r>
          </a:p>
          <a:p>
            <a:pPr>
              <a:spcBef>
                <a:spcPts val="400"/>
              </a:spcBef>
              <a:defRPr sz="1300">
                <a:solidFill>
                  <a:srgbClr val="DFE4EA"/>
                </a:solidFill>
              </a:defRPr>
            </a:pPr>
            <a:r>
              <a:t>DONE ✅ 13. Flutter App &amp; Web — Signed APK, AAB &amp; Vercel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QUALITY ENGINEERING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17 Vulnerabilities &amp; Bugs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Transformed a hobby prototype into a resilient, enterprise-grade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 Critical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SECURITY &amp; CRASHES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Public Database Rules: Anyone could flip relays without password. FIXED.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Exposed Firebase API Keys in open repo. FIXED with .env.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ESP32 Brownout Crashes when all 4 relays triggered simultaneously. FIXED with staggered 50ms startup.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Silent Wi-Fi disconnect lockups. FIXED with non-blocking reconnect.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 High Priority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PERFORMANCE &amp; RELIABILITY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2-second polling spam. FIXED with WebSocket event stream.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Firebase Token 1-hour expiry lockout. FIXED with auto-refresh.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Zero hardware watchdog. FIXED with 15-second WDT timer.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Missing SSL Root CA verification. FIXED with modern TLS validation.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Blocking while waiting for Wi-Fi. FIXED with async FreeRTOS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 Medium &amp; Low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USABILITY &amp; HARDWARE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Loss of relay status during power cuts. FIXED with NVS flash memory.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Physical wall switch out-of-sync. FIXED with GPIO interrupt feedback.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Relay contact welding from AC motor spark. FIXED with RC snubber.</a:t>
            </a:r>
          </a:p>
          <a:p>
            <a:pPr>
              <a:spcBef>
                <a:spcPts val="600"/>
              </a:spcBef>
              <a:defRPr sz="1300">
                <a:solidFill>
                  <a:srgbClr val="DFE4EA"/>
                </a:solidFill>
              </a:defRPr>
            </a:pPr>
            <a:r>
              <a:t>• Missing over-the-air firmware update. FIXED with ElegantOTA.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BUILT-IN PROTECTION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Self-Healing Armor (Layman Explanations)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How ApnaGhar keeps running year after year without human maintenance.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Watchdog Timer (WDT)</a:t>
            </a:r>
          </a:p>
          <a:p>
            <a:pPr>
              <a:spcBef>
                <a:spcPts val="400"/>
              </a:spcBef>
              <a:defRPr sz="1500" b="1">
                <a:solidFill>
                  <a:srgbClr val="00E5FF"/>
                </a:solidFill>
              </a:defRPr>
            </a:pPr>
            <a:r>
              <a:t>🛡️ Automatic Chip Doctor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What it is: A 15-second countdown timer inside the chip.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Layman Analogy: If the microcontroller ever freezes due to electrical noise, the timer reaches zero and automatically slaps the chip awake in 15 seconds. You never need to unplug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NVS Flash Memory</a:t>
            </a:r>
          </a:p>
          <a:p>
            <a:pPr>
              <a:spcBef>
                <a:spcPts val="400"/>
              </a:spcBef>
              <a:defRPr sz="1500" b="1">
                <a:solidFill>
                  <a:srgbClr val="F59E0B"/>
                </a:solidFill>
              </a:defRPr>
            </a:pPr>
            <a:r>
              <a:t>🛡️ Blackout Memory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What it is: On-chip non-volatile storage flash memory.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Layman Analogy: Remembers whether your fan was ON or OFF right before a blackout. When main power returns, it restores your exact comfort level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2900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488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RC Snubber + MOV</a:t>
            </a:r>
          </a:p>
          <a:p>
            <a:pPr>
              <a:spcBef>
                <a:spcPts val="400"/>
              </a:spcBef>
              <a:defRPr sz="1500" b="1">
                <a:solidFill>
                  <a:srgbClr val="A78BFA"/>
                </a:solidFill>
              </a:defRPr>
            </a:pPr>
            <a:r>
              <a:t>🛡️ Appliance Bodyguard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What it is: Resistor-Capacitor filter plus Metal Oxide Varistor.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Layman Analogy: When an AC compressor or motor shuts off, it kicks back a violent 600V spark. The snubber absorbs this surge like a shock absorber so your relays never burn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SMART METERING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PZEM-004T: True Electricity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Real electrical metering versus naive software guess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❌ Naive Software Guessing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• Multiplies 60W x Hours: Assumes every bulb uses exactly 60W forever.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• Ignores Voltage Fluctuations: When grid voltage drops to 180V or surges to 260V, calculations are wildly inaccurate.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• Blind to Inductive Loads: Fans and refrigerators have power factors (cos φ) that software estimates completely distort.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• Result: Completely wrong electricity bill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PZEM-004T Hardware Meter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Dedicated High-Precision Energy Chip: Reads true RMS AC voltage (80-260V).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Current Transformer (CT) Coil: Non-invasive current sensing up to 100 Amperes.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Active Power &amp; Energy Accumulation: Real kWh stored directly inside hardware memory.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Frequency &amp; Power Factor: Detects faulty appliances before they break.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Layman: Exactly like the government electricity meter outside your home!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HANDS-FREE LIVING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Voice Assistant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Natural voice control via Amazon Alexa &amp; Google Smart Home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E5FF"/>
                </a:solidFill>
              </a:defRPr>
            </a:pPr>
            <a:r>
              <a:t>🗣️ Amazon Alexa Skill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Skill Endpoint: Node.js Lambda function configured for Alexa Smart Home Skill API v3.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Voice Commands Supported: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  • 'Alexa, turn on Living Room Light'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  • 'Alexa, turn off Bedroom Fan'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  • 'Alexa, is the Kitchen Light ON?'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Direct Firebase Token Linking: Secure, zero-delay voice bridge.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t>🎙️ Google Assistant Action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Google Home Smart Home Action: Full support for SYNC, QUERY, and EXECUTE intents.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Natural Voice Controls: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  • 'Hey Google, turn on AC'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  • 'Hey Google, turn off all room lights'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Real-time Two-Way State Sync: Google Home app displays live button toggles immediately.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HARDWARE ENGINEERING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 PCB &amp; 3D Printable Enclosure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Engineered to international electrical safety isolation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A78BFA"/>
                </a:solidFill>
              </a:defRPr>
            </a:pPr>
            <a:r>
              <a:t>📐 Custom 2-Layer PCB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Dimensions: Compact 100mm x 80mm FR4 double-sided circuit board.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Creepage Air Isolation Slots: Physical milling cuts between 230V AC lines and 3.3V DC tracks.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Thick Copper Pour: 2oz copper traces capable of handling 10A per relay without heating.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Layman: Physical safety barriers so 230V never touches sensitive electronics.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E5FF"/>
                </a:solidFill>
              </a:defRPr>
            </a:pPr>
            <a:r>
              <a:t>🖨️ 3D Enclosure (OpenSCAD)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Parametric CAD Model: Designed in OpenSCAD ('hardware/enclosure/enclosure.scad').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Flame Retardant Material: Designed for 3D printing in UL94 V-0 ABS or heat-resistant PETG.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Internal Barrier Wall: Completely separates high-voltage wire terminals from logic board.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DIN-Rail &amp; Screw Mounts: Easy installation in standard home breaker panels.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USER EXPERIENCE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Flutter Mobile App &amp;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Modern cyber-glass interface built for both phone and desktop.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59E0B"/>
                </a:solidFill>
              </a:defRPr>
            </a:pPr>
            <a:r>
              <a:t>📱 ApnaGhar Android App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Built with Flutter: Smooth 60 FPS animations on all Android devices.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Signed Release APK (54.6 MB): Ready for immediate sideloading.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Google Play Store AAB (44.8 MB): Pre-configured for Play Store release.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1-Click Instant Connect: Pre-mapped for instant testing without typing credentials.</a:t>
            </a:r>
          </a:p>
          <a:p>
            <a:pPr>
              <a:spcBef>
                <a:spcPts val="800"/>
              </a:spcBef>
              <a:defRPr sz="1500">
                <a:solidFill>
                  <a:srgbClr val="DFE4EA"/>
                </a:solidFill>
              </a:defRPr>
            </a:pPr>
            <a:r>
              <a:t>• Periodic Auto-Sync: Updates automatically when physical wall switch flips.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E5FF"/>
                </a:solidFill>
              </a:defRPr>
            </a:pPr>
            <a:r>
              <a:t>🌐 Live Web Dashboard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Deployed on Vercel CDN: Ultra-fast globally distributed web hosting.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Realtime Firebase Bridge: Directly sends commands to device in &lt;100ms.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One-Click Access: Instant control dashboard button for examiners.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Live Indicator Dot: Real-time green/red pulse showing if ESP32 is online.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LIVE DEMONSTRATION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Try It Live: Scan QR Codes or Visit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Experience real-time sub-100ms relay control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🌐 Live Web Dashboard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Open on any phone or laptop browser: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https://web-mjdtvq623-ahmadsakib263-4202s-projects.vercel.app</a:t>
            </a:r>
          </a:p>
          <a:p>
            <a:pPr>
              <a:spcBef>
                <a:spcPts val="1200"/>
              </a:spcBef>
              <a:defRPr sz="1300">
                <a:solidFill>
                  <a:srgbClr val="F59E0B"/>
                </a:solidFill>
              </a:defRPr>
            </a:pPr>
            <a:r>
              <a:t>👉 Scan QR code to open directly without typing!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560320"/>
            <a:ext cx="1645920" cy="1645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📦 GitHub &amp; APK Release</a:t>
            </a:r>
          </a:p>
          <a:p>
            <a:pPr>
              <a:spcBef>
                <a:spcPts val="800"/>
              </a:spcBef>
              <a:defRPr sz="1400">
                <a:solidFill>
                  <a:srgbClr val="DFE4EA"/>
                </a:solidFill>
              </a:defRPr>
            </a:pPr>
            <a:r>
              <a:t>Full source code, schematics &amp; guides: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https://github.com/MohammadSakibAhmad0874/ESP32-Home-Control-Using-Firebase-System</a:t>
            </a:r>
          </a:p>
          <a:p>
            <a:pPr>
              <a:spcBef>
                <a:spcPts val="1200"/>
              </a:spcBef>
              <a:defRPr sz="1300">
                <a:solidFill>
                  <a:srgbClr val="10B981"/>
                </a:solidFill>
              </a:defRPr>
            </a:pPr>
            <a:r>
              <a:t>Local APK File: './ApnaGhar-v2.0-release.apk' (54.6 MB)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5603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[ ⚡ PROJECT SUMMARY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Summary: Why ApnaGhar v2.0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The gap between DIY hobby projects and commercial-grade automation is bridged.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389120"/>
          </a:xfrm>
          <a:prstGeom prst="roundRect">
            <a:avLst/>
          </a:prstGeom>
          <a:solidFill>
            <a:srgbClr val="1511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🏆 Key Takeaways &amp; Viva Highlights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Real-Time Event Stream: Sub-100ms latency via Google Firebase RTDB replaces slow 2-second polling.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Zero Blackout Amnesia: NVS storage flash memory ensures appliances remember state after power restoration.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Self-Healing Firmware: Hardware Watchdog Timer automatically revives the ESP32 in 15 seconds if it ever hangs.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Electrical Armor: RC snubber circuit and MOV absorb dangerous inductive spikes from motors and air conditioners.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Triple-Mode Resilience: Functions via Cloud Firebase, Local Wi-Fi (offline), or Emergency ESP32 Access Point Hotspot.</a:t>
            </a:r>
          </a:p>
          <a:p>
            <a:pPr>
              <a:spcBef>
                <a:spcPts val="1800"/>
              </a:spcBef>
              <a:defRPr sz="2000" b="1">
                <a:solidFill>
                  <a:srgbClr val="00E5FF"/>
                </a:solidFill>
              </a:defRPr>
            </a:pPr>
            <a:r>
              <a:t>Thank You! Ready for Demonstration &amp;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