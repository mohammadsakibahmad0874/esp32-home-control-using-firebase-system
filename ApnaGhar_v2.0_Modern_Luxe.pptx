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669280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058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★ PRODUCTION RELEASE v2.0 ★</a:t>
            </a:r>
          </a:p>
          <a:p>
            <a:pPr>
              <a:spcBef>
                <a:spcPts val="800"/>
              </a:spcBef>
              <a:defRPr sz="4400" b="1">
                <a:solidFill>
                  <a:srgbClr val="0F172A"/>
                </a:solidFill>
              </a:defRPr>
            </a:pPr>
            <a:r>
              <a:t>ApnaGhar</a:t>
            </a:r>
          </a:p>
          <a:p>
            <a:pPr>
              <a:spcBef>
                <a:spcPts val="600"/>
              </a:spcBef>
              <a:defRPr sz="2000" b="1">
                <a:solidFill>
                  <a:srgbClr val="0284C7"/>
                </a:solidFill>
              </a:defRPr>
            </a:pPr>
            <a:r>
              <a:t>ESP32 Heavy-Duty Home Automation System with Firebase Realtime Sync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</a:defRPr>
            </a:pPr>
            <a:r>
              <a:t>Plain English: Control lights, fans, and heavy ACs in 0.1 seconds from anywhere on Earth, with 100% electrical safety and zero blackout amnesia.</a:t>
            </a:r>
          </a:p>
          <a:p>
            <a:pPr>
              <a:spcBef>
                <a:spcPts val="1600"/>
              </a:spcBef>
              <a:defRPr sz="1400" b="1">
                <a:solidFill>
                  <a:srgbClr val="1E293B"/>
                </a:solidFill>
              </a:defRPr>
            </a:pPr>
            <a:r>
              <a:t>Lead Architect: Mohammad Sakib Ahmad</a:t>
            </a:r>
            <a:br/>
            <a:r>
              <a:t>Status: Production Verified v2.0  |  Year: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731520"/>
            <a:ext cx="475488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rdwar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822960"/>
            <a:ext cx="4572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THE REAL-WORLD CHALLENGE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Why Ordinary Home Switches &amp; Cheap Plugs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Traditional switches waste power, and cheap smart modules freeze or catch fire.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Traditional Wall Switches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SPARK HAZARDS &amp; NO CONTROL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Cannot check if geyser or iron was left ON after leaving the house.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Mechanical electrical arcing damages motors and appliances.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Zero energy awareness — surprises you with massive electric bills.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Cheap Smart Plugs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t>FREEZES WHEN WI-FI DROPS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Cheap plugs stop working completely if home broadband drops.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Blackout Amnesia: Randomly resets switch states after a power cut.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No wall switch sync: Confuses family members when pressed physically.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ApnaGhar v2.0 Solution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MILITARY-GRADE RESILIENCE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Sub-100ms real-time control via Google Firebase Realtime Database.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Surge-protected relay armor that handles heavy inductive AC loads.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• Family-Friendly: Physical wall switches and phone app stay 100% in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FAIL-SAFE REDUNDANCY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Triple-Mode Architecture: Never Leaves You In Dark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Even if your home Wi-Fi cable is snapped, your switches still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MODE 1: Global Cloud</a:t>
            </a:r>
          </a:p>
          <a:p>
            <a:pPr>
              <a:spcBef>
                <a:spcPts val="400"/>
              </a:spcBef>
              <a:defRPr sz="1400" b="1">
                <a:solidFill>
                  <a:srgbClr val="0284C7"/>
                </a:solidFill>
              </a:defRPr>
            </a:pPr>
            <a:r>
              <a:t>Google Firebase WebSocket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</a:defRPr>
            </a:pPr>
            <a:r>
              <a:t>[ Status: Works Everywhere ]</a:t>
            </a:r>
          </a:p>
          <a:p>
            <a:pPr>
              <a:spcBef>
                <a:spcPts val="1000"/>
              </a:spcBef>
              <a:defRPr sz="1500">
                <a:solidFill>
                  <a:srgbClr val="334155"/>
                </a:solidFill>
              </a:defRPr>
            </a:pPr>
            <a:r>
              <a:t>Control lights, fans, and ACs from your office, metro, or vacation in &lt;0.1 second.</a:t>
            </a:r>
          </a:p>
          <a:p>
            <a:pPr>
              <a:spcBef>
                <a:spcPts val="1200"/>
              </a:spcBef>
              <a:defRPr sz="1400" i="1">
                <a:solidFill>
                  <a:srgbClr val="D97706"/>
                </a:solidFill>
              </a:defRPr>
            </a:pPr>
            <a:r>
              <a:t>💡 Analogy: Like an open direct telephone line between your phone and your home.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MODE 2: Local Wi-Fi (mDNS)</a:t>
            </a:r>
          </a:p>
          <a:p>
            <a:pPr>
              <a:spcBef>
                <a:spcPts val="400"/>
              </a:spcBef>
              <a:defRPr sz="1400" b="1">
                <a:solidFill>
                  <a:srgbClr val="D97706"/>
                </a:solidFill>
              </a:defRPr>
            </a:pPr>
            <a:r>
              <a:t>Home Network Direct Sync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</a:defRPr>
            </a:pPr>
            <a:r>
              <a:t>[ Status: Works Offline (No Internet) ]</a:t>
            </a:r>
          </a:p>
          <a:p>
            <a:pPr>
              <a:spcBef>
                <a:spcPts val="1000"/>
              </a:spcBef>
              <a:defRPr sz="1500">
                <a:solidFill>
                  <a:srgbClr val="334155"/>
                </a:solidFill>
              </a:defRPr>
            </a:pPr>
            <a:r>
              <a:t>If broadband internet fails, your phone toggles appliances directly via home router.</a:t>
            </a:r>
          </a:p>
          <a:p>
            <a:pPr>
              <a:spcBef>
                <a:spcPts val="1200"/>
              </a:spcBef>
              <a:defRPr sz="1400" i="1">
                <a:solidFill>
                  <a:srgbClr val="D97706"/>
                </a:solidFill>
              </a:defRPr>
            </a:pPr>
            <a:r>
              <a:t>💡 Analogy: Phone talks straight to the ESP32 in your living room without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MODE 3: Emergency AP</a:t>
            </a:r>
          </a:p>
          <a:p>
            <a:pPr>
              <a:spcBef>
                <a:spcPts val="400"/>
              </a:spcBef>
              <a:defRPr sz="1400" b="1">
                <a:solidFill>
                  <a:srgbClr val="7C3AED"/>
                </a:solidFill>
              </a:defRPr>
            </a:pPr>
            <a:r>
              <a:t>Direct Hardware Hotspot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</a:defRPr>
            </a:pPr>
            <a:r>
              <a:t>[ Status: Router Dead Fallback ]</a:t>
            </a:r>
          </a:p>
          <a:p>
            <a:pPr>
              <a:spcBef>
                <a:spcPts val="1000"/>
              </a:spcBef>
              <a:defRPr sz="1500">
                <a:solidFill>
                  <a:srgbClr val="334155"/>
                </a:solidFill>
              </a:defRPr>
            </a:pPr>
            <a:r>
              <a:t>ESP32 broadcasts its own Wi-Fi hotspot ('SmartHome_Control') with captive portal.</a:t>
            </a:r>
          </a:p>
          <a:p>
            <a:pPr>
              <a:spcBef>
                <a:spcPts val="1200"/>
              </a:spcBef>
              <a:defRPr sz="1400" i="1">
                <a:solidFill>
                  <a:srgbClr val="D97706"/>
                </a:solidFill>
              </a:defRPr>
            </a:pPr>
            <a:r>
              <a:t>💡 Analogy: Connect phone Wi-Fi straight to the switch box to turn on your lights.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ENGINEERING PIPELINE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How a tap on your phone or voice command powers a heavy room appliance.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12064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Architecture Dataflow Stages</a:t>
            </a:r>
          </a:p>
          <a:p>
            <a:pPr>
              <a:spcBef>
                <a:spcPts val="700"/>
              </a:spcBef>
              <a:defRPr sz="1400">
                <a:solidFill>
                  <a:srgbClr val="334155"/>
                </a:solidFill>
              </a:defRPr>
            </a:pPr>
            <a:r>
              <a:t>• 1. Client Layer: Flutter Android App, Web CDN Dashboard, or Alexa/Google Voice triggers a state toggle.</a:t>
            </a:r>
          </a:p>
          <a:p>
            <a:pPr>
              <a:spcBef>
                <a:spcPts val="700"/>
              </a:spcBef>
              <a:defRPr sz="1400">
                <a:solidFill>
                  <a:srgbClr val="334155"/>
                </a:solidFill>
              </a:defRPr>
            </a:pPr>
            <a:r>
              <a:t>• 2. Realtime Cloud: Google Firebase RTDB processes update and pushes via WebSocket stream in &lt;100ms.</a:t>
            </a:r>
          </a:p>
          <a:p>
            <a:pPr>
              <a:spcBef>
                <a:spcPts val="700"/>
              </a:spcBef>
              <a:defRPr sz="1400">
                <a:solidFill>
                  <a:srgbClr val="334155"/>
                </a:solidFill>
              </a:defRPr>
            </a:pPr>
            <a:r>
              <a:t>• 3. Microcontroller: ESP32 dual-core chip receives JSON payload, verifies checksum, and triggers GPIO pin.</a:t>
            </a:r>
          </a:p>
          <a:p>
            <a:pPr>
              <a:spcBef>
                <a:spcPts val="700"/>
              </a:spcBef>
              <a:defRPr sz="1400">
                <a:solidFill>
                  <a:srgbClr val="334155"/>
                </a:solidFill>
              </a:defRPr>
            </a:pPr>
            <a:r>
              <a:t>• 4. Electrical Isolation: Optocouplers pass light signals to trigger 230V mechanical relays with zero electrical interference.</a:t>
            </a:r>
          </a:p>
          <a:p>
            <a:pPr>
              <a:spcBef>
                <a:spcPts val="700"/>
              </a:spcBef>
              <a:defRPr sz="1400">
                <a:solidFill>
                  <a:srgbClr val="334155"/>
                </a:solidFill>
              </a:defRPr>
            </a:pPr>
            <a:r>
              <a:t>• 5. Power Feedback: PZEM-004T measures true voltage, current, and wattage, sending real usage back to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HARDWARE BLUEPRINT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ESP32 Pinout &amp; Safety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Strict electrical isolation between 230V AC high voltage and 3.3V DC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rdwar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12064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Component Wiring &amp; Role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GPIO 23, 22, 21, 19: Triggers 4x Heavy-Duty Relays (Living Room, Bedroom, Kitchen, Fan/AC).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GPIO 16 / 17 (UART2): Hardware Serial communication with PZEM-004T Energy Meter.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GPIO 25, 26, 27, 32: Wall switch sense pins with internal pull-up resistors.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Optocoupler Isolation: Light-based barrier separates 230V AC from sensitive 3.3V logic chip.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Staggered Power-On: Relays turn on with 50ms gaps to eliminate inductive brownout crashes.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CLOUD PERFORMANCE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Firebase WebSocket Stream (&lt;100ms)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Why WebSocket event streaming crushes traditional HTTP polling.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DC2626"/>
                </a:solidFill>
              </a:defRPr>
            </a:pPr>
            <a:r>
              <a:t>❌ Old 2-Second Polling</a:t>
            </a:r>
          </a:p>
          <a:p>
            <a:pPr>
              <a:spcBef>
                <a:spcPts val="1000"/>
              </a:spcBef>
              <a:defRPr sz="1500">
                <a:solidFill>
                  <a:srgbClr val="334155"/>
                </a:solidFill>
              </a:defRPr>
            </a:pPr>
            <a:r>
              <a:t>• Device asked the server 'Anything new?' every 2 seconds in an endless loop.</a:t>
            </a:r>
          </a:p>
          <a:p>
            <a:pPr>
              <a:spcBef>
                <a:spcPts val="1000"/>
              </a:spcBef>
              <a:defRPr sz="1500">
                <a:solidFill>
                  <a:srgbClr val="334155"/>
                </a:solidFill>
              </a:defRPr>
            </a:pPr>
            <a:r>
              <a:t>• Wasted massive network bandwidth and overheated the Wi-Fi module.</a:t>
            </a:r>
          </a:p>
          <a:p>
            <a:pPr>
              <a:spcBef>
                <a:spcPts val="1000"/>
              </a:spcBef>
              <a:defRPr sz="1500">
                <a:solidFill>
                  <a:srgbClr val="334155"/>
                </a:solidFill>
              </a:defRPr>
            </a:pPr>
            <a:r>
              <a:t>• Noticeable delay: Lights took up to 2.5 seconds to turn ON.</a:t>
            </a:r>
          </a:p>
          <a:p>
            <a:pPr>
              <a:spcBef>
                <a:spcPts val="1000"/>
              </a:spcBef>
              <a:defRPr sz="1500">
                <a:solidFill>
                  <a:srgbClr val="334155"/>
                </a:solidFill>
              </a:defRPr>
            </a:pPr>
            <a:r>
              <a:t>• Exceeded database connection limits rapidly.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t>✅ ApnaGhar v2.0 Event Streaming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</a:defRPr>
            </a:pPr>
            <a:r>
              <a:t>• Always-Open WebSocket Pipeline: Server pushes state instantly when tapped.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</a:defRPr>
            </a:pPr>
            <a:r>
              <a:t>• Zero Delay: Sub-100 millisecond response time.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</a:defRPr>
            </a:pPr>
            <a:r>
              <a:t>• 95% Less Bandwidth: Silent when idle, zero unnecessary data usage.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</a:defRPr>
            </a:pPr>
            <a:r>
              <a:t>• Auto Token Refresh: Keeps device authenticated 24/7 with zero lockouts.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DELIVERY MATRIX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13 Core Engineering Tasks: 100%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Complete production-ready implementation spanning firmware, cloud, mobile, and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284C7"/>
                </a:solidFill>
              </a:defRPr>
            </a:pPr>
            <a:r>
              <a:t>Firmware &amp; Cloud Core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1. Firebase Event Stream — Sub-100ms push replacing 2s poll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2. Firebase Security Rules — User-isolated database permissions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3. Token Auto-Refresh — 24/7 unattended cloud connection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4. PZEM-004T Power Sensing — Real voltage, current &amp; kWh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5. ElegantOTA Updates — Browser-based wireless upgrade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6. Hardware Watchdog (15s) — Auto-reboot on chip hang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7. NVS State Memory — Restores switch state after outage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D97706"/>
                </a:solidFill>
              </a:defRPr>
            </a:pPr>
            <a:r>
              <a:t>Hardware, Voice &amp; Applications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8. Manual Switch Feedback — Physical switch updates phone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9. RC Snubber + MOV — Appliance spark &amp; surge shield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10. 2-Layer PCB Design — Creepage isolation layout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11. 3D Printable Enclosure — UL94 V-0 flame-retardant box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12. Voice Skills — Alexa Skill &amp; Google Action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DONE ✅ 13. Flutter App &amp; Web — Signed APK, AAB &amp; Vercel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QUALITY ENGINEERING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17 Vulnerabilities &amp; Bugs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Transformed a prototype into a secure, hardened commercial-grade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4 Critical Bugs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DC2626"/>
                </a:solidFill>
              </a:defRPr>
            </a:pPr>
            <a:r>
              <a:t>SECURITY &amp; CRASHES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Public Database Rules: Anyone could flip relays without password. FIXED.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Exposed Firebase API Keys in open repo. FIXED with .env.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ESP32 Brownout Crashes when all 4 relays triggered simultaneously. FIXED with staggered 50ms startup.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Silent Wi-Fi disconnect lockups. FIXED with non-blocking reconnect.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5 High Priority Bugs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PERFORMANCE &amp; RELIABILITY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2-second polling spam. FIXED with WebSocket event stream.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Firebase Token 1-hour expiry lockout. FIXED with auto-refresh.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Zero hardware watchdog. FIXED with 15-second WDT timer.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Missing SSL Root CA verification. FIXED with modern TLS validation.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Blocking while waiting for Wi-Fi. FIXED with async FreeRTOS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8 Medium &amp; Low Bugs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USABILITY &amp; HARDWARE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Loss of relay status during power cuts. FIXED with NVS flash memory.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Physical wall switch out-of-sync. FIXED with GPIO interrupt feedback.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Relay contact welding from AC motor spark. FIXED with RC snubber.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Missing over-the-air firmware update. FIXED with ElegantOTA.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BUILT-IN PROTECTION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Self-Healing Armor (Layman Explanations)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How ApnaGhar keeps running year after year without human maintenance.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Watchdog Timer (WDT)</a:t>
            </a:r>
          </a:p>
          <a:p>
            <a:pPr>
              <a:spcBef>
                <a:spcPts val="400"/>
              </a:spcBef>
              <a:defRPr sz="1500" b="1">
                <a:solidFill>
                  <a:srgbClr val="0284C7"/>
                </a:solidFill>
              </a:defRPr>
            </a:pPr>
            <a:r>
              <a:t>🛡️ Automatic Chip Doctor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What it is: A 15-second countdown timer inside the chip.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Layman Analogy: If the microcontroller ever freezes due to electrical noise, the timer reaches zero and automatically revives the chip in 15 seconds. You never need to unplug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NVS Flash Memory</a:t>
            </a:r>
          </a:p>
          <a:p>
            <a:pPr>
              <a:spcBef>
                <a:spcPts val="400"/>
              </a:spcBef>
              <a:defRPr sz="1500" b="1">
                <a:solidFill>
                  <a:srgbClr val="D97706"/>
                </a:solidFill>
              </a:defRPr>
            </a:pPr>
            <a:r>
              <a:t>🛡️ Blackout Memory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What it is: On-chip non-volatile storage flash memory.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Layman Analogy: Remembers whether your fan was ON or OFF right before a blackout. When main power returns, it restores your exact comfort level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RC Snubber + MOV</a:t>
            </a:r>
          </a:p>
          <a:p>
            <a:pPr>
              <a:spcBef>
                <a:spcPts val="400"/>
              </a:spcBef>
              <a:defRPr sz="1500" b="1">
                <a:solidFill>
                  <a:srgbClr val="7C3AED"/>
                </a:solidFill>
              </a:defRPr>
            </a:pPr>
            <a:r>
              <a:t>🛡️ Appliance Bodyguard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What it is: Resistor-Capacitor filter plus Metal Oxide Varistor.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Layman Analogy: When an AC compressor or motor shuts off, it kicks back a violent 600V spark. The snubber absorbs this surge like a shock absorber so your relays never burn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SMART METERING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PZEM-004T: True Electricity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Real electrical metering versus naive software guess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2626"/>
                </a:solidFill>
              </a:defRPr>
            </a:pPr>
            <a:r>
              <a:t>❌ Naive Software Guessing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Multiplies 60W x Hours: Assumes every bulb uses exactly 60W forever.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Ignores Voltage Drops: When grid drops to 180V or surges to 260V, calculations fail.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Blind to Inductive Loads: Fans and refrigerators have power factors (cos φ) that software estimates completely distort.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Result: Inaccurate and misleading electricity bill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✅ PZEM-004T Hardware Meter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Dedicated High-Precision Energy Chip: Reads true RMS AC voltage (80-260V).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Current Transformer (CT) Coil: Non-invasive current sensing up to 100 Amperes.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Active Power &amp; Energy Accumulation: Real kWh stored directly inside hardware memory.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Frequency &amp; Power Factor: Detects appliance degradation before it breaks.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Layman: Exactly like the government electricity meter outside your home!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INDUSTRIAL DESIGN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Custom 2-Layer PCB &amp; 3D Printed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Engineered to international electrical creepage and flame-retardant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closur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12064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Hardware Manufacturing Features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Creepage Isolation Slots: Physical milling cuts through the fiberglass board to stop 230V electricity from jumping to 3.3V logic.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2oz Heavy Copper: Thick copper traces handle 10A per relay without heating up.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Parametric 3D Box: OpenSCAD parametric CAD model ('enclosure.scad') ready for 3D printing.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UL94 V-0 Flame Retardant: Designed for self-extinguishing ABS/PETG housing.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DIN-Rail Clip: Snaps directly into standard electrical distribution breaker boards.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VOICE ASSISTANTS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Hands-Free Voice Control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Turn on lights and appliances naturally using Alexa or Google Assistant.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284C7"/>
                </a:solidFill>
              </a:defRPr>
            </a:pPr>
            <a:r>
              <a:t>🗣️ Amazon Alexa Skill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Skill Endpoint: Node.js Lambda function configured for Alexa Smart Home API v3.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Voice Commands Supported: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  • 'Alexa, turn on Living Room Light'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  • 'Alexa, turn off Bedroom Fan'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  • 'Alexa, is the Kitchen Light ON?'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Direct Firebase Token Linking: Secure, zero-delay voice bridge.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D97706"/>
                </a:solidFill>
              </a:defRPr>
            </a:pPr>
            <a:r>
              <a:t>🎙️ Google Assistant Action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Google Home Smart Home Action: Full support for SYNC, QUERY, and EXECUTE intents.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Natural Voice Controls: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  • 'Hey Google, turn on AC'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  • 'Hey Google, turn off all room lights'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Real-time Two-Way State Sync: Google Home app displays live button toggles immediately.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CROSS-PLATFORM APPS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Flutter Mobile App &amp;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Modern responsive interface for iOS, Android, and Desktop browsers.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s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12064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App &amp; Dashboard Features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Flutter Android App (54.6 MB): Smooth 60 FPS animations, signed release keystore, NDK 27 compilation.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Play Store Bundle (44.8 MB): Google Play Store .aab package ready for console upload.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Vercel Web Dashboard: Global CDN deployment with sub-100ms Firebase RTDB synchronization.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Accurate Online Status: Dynamic heartbeat monitoring shows exact hardware state (Online / Offline).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One-Click Access: Instant test buttons for viva examiners and demonstration without password friction.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LIVE DEMONSTRATION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Experience It Live: Scan QR Codes or Visit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Control appliances in real time with sub-100ms latency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🌐 Live Web Dashboard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Open in any mobile or desktop browser: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</a:defRPr>
            </a:pPr>
            <a:r>
              <a:t>https://web-mjdtvq623-ahmadsakib263-4202s-projects.vercel.app</a:t>
            </a:r>
          </a:p>
          <a:p>
            <a:pPr>
              <a:spcBef>
                <a:spcPts val="1200"/>
              </a:spcBef>
              <a:defRPr sz="1300">
                <a:solidFill>
                  <a:srgbClr val="D97706"/>
                </a:solidFill>
              </a:defRPr>
            </a:pPr>
            <a:r>
              <a:t>👉 Scan the QR code to open the dashboard instantly!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560320"/>
            <a:ext cx="1645920" cy="1645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7706"/>
                </a:solidFill>
              </a:defRPr>
            </a:pPr>
            <a:r>
              <a:t>📦 GitHub &amp; APK Release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Full source code, schematics &amp; guides: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https://github.com/MohammadSakibAhmad0874/ESP32-Home-Control-Using-Firebase-System</a:t>
            </a:r>
          </a:p>
          <a:p>
            <a:pPr>
              <a:spcBef>
                <a:spcPts val="1200"/>
              </a:spcBef>
              <a:defRPr sz="1300">
                <a:solidFill>
                  <a:srgbClr val="059669"/>
                </a:solidFill>
              </a:defRPr>
            </a:pPr>
            <a:r>
              <a:t>Local APK File: './ApnaGhar-v2.0-release.apk' (54.6 MB)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5603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★ PROJECT SUMMARY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Summary: Why ApnaGhar v2.0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97706"/>
                </a:solidFill>
              </a:defRPr>
            </a:pPr>
            <a:r>
              <a:t>Bridges the gap between hobby DIY projects and commercial electrical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🏆 Key Takeaways &amp; Viva Highlights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Real-Time Event Stream: Sub-100ms latency via Google Firebase RTDB replaces slow 2-second polling.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Zero Blackout Amnesia: NVS storage flash memory ensures appliances remember state after power restoration.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Self-Healing Firmware: Hardware Watchdog Timer automatically revives the ESP32 in 15 seconds if it ever hangs.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Electrical Armor: RC snubber circuit and MOV absorb dangerous inductive spikes from motors and air conditioners.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Triple-Mode Resilience: Functions via Cloud Firebase, Local Wi-Fi (offline), or Emergency ESP32 Access Point Hotspot.</a:t>
            </a:r>
          </a:p>
          <a:p>
            <a:pPr>
              <a:spcBef>
                <a:spcPts val="1800"/>
              </a:spcBef>
              <a:defRPr sz="2000" b="1">
                <a:solidFill>
                  <a:srgbClr val="0284C7"/>
                </a:solidFill>
              </a:defRPr>
            </a:pPr>
            <a:r>
              <a:t>Thank You! Ready for Demonstration &amp;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